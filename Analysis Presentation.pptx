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4630400" cy="8229600"/>
  <p:notesSz cx="8229600" cy="14630400"/>
  <p:embeddedFontLst>
    <p:embeddedFont>
      <p:font typeface="Inter" panose="020B0604020202020204" charset="0"/>
      <p:regular r:id="rId8"/>
    </p:embeddedFont>
  </p:embeddedFontLst>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7" d="100"/>
          <a:sy n="57" d="100"/>
        </p:scale>
        <p:origin x="80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6768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NG"/>
          </a:p>
        </p:txBody>
      </p:sp>
      <p:pic>
        <p:nvPicPr>
          <p:cNvPr id="4" name="Image 1" descr="preencoded.png">
            <a:hlinkClick r:id="rId3"/>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NG"/>
          </a:p>
        </p:txBody>
      </p:sp>
      <p:pic>
        <p:nvPicPr>
          <p:cNvPr id="4" name="Image 1" descr="preencoded.png">
            <a:hlinkClick r:id="rId3"/>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026325"/>
            <a:ext cx="10396538"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EXCELLERATE OUTREACH ANALYSIS</a:t>
            </a:r>
            <a:endParaRPr lang="en-US" sz="4650" dirty="0"/>
          </a:p>
        </p:txBody>
      </p:sp>
      <p:sp>
        <p:nvSpPr>
          <p:cNvPr id="3" name="Text 1"/>
          <p:cNvSpPr/>
          <p:nvPr/>
        </p:nvSpPr>
        <p:spPr>
          <a:xfrm>
            <a:off x="793790" y="3110746"/>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This presentation will provide a comprehensive review of our campaign performance dashboards, offering data-driven insights and actionable recommendations to optimize future outreach efforts. By the end, we will have a clear understanding of our current standing and a strategic path forward.</a:t>
            </a:r>
            <a:endParaRPr lang="en-US" sz="1750" dirty="0"/>
          </a:p>
        </p:txBody>
      </p:sp>
      <p:sp>
        <p:nvSpPr>
          <p:cNvPr id="4" name="Shape 2"/>
          <p:cNvSpPr/>
          <p:nvPr/>
        </p:nvSpPr>
        <p:spPr>
          <a:xfrm>
            <a:off x="793790" y="4454604"/>
            <a:ext cx="6407944" cy="1748552"/>
          </a:xfrm>
          <a:prstGeom prst="roundRect">
            <a:avLst>
              <a:gd name="adj" fmla="val 5448"/>
            </a:avLst>
          </a:prstGeom>
          <a:solidFill>
            <a:srgbClr val="FFFFFF">
              <a:alpha val="95000"/>
            </a:srgbClr>
          </a:solidFill>
          <a:ln w="30480">
            <a:solidFill>
              <a:srgbClr val="B2D4E5"/>
            </a:solidFill>
            <a:prstDash val="solid"/>
          </a:ln>
        </p:spPr>
        <p:txBody>
          <a:bodyPr/>
          <a:lstStyle/>
          <a:p>
            <a:endParaRPr lang="en-NG"/>
          </a:p>
        </p:txBody>
      </p:sp>
      <p:sp>
        <p:nvSpPr>
          <p:cNvPr id="5" name="Text 3"/>
          <p:cNvSpPr/>
          <p:nvPr/>
        </p:nvSpPr>
        <p:spPr>
          <a:xfrm>
            <a:off x="1051084" y="4711898"/>
            <a:ext cx="3343751"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Review All 3 Dashboards</a:t>
            </a:r>
            <a:endParaRPr lang="en-US" sz="2300" dirty="0"/>
          </a:p>
        </p:txBody>
      </p:sp>
      <p:sp>
        <p:nvSpPr>
          <p:cNvPr id="6" name="Text 4"/>
          <p:cNvSpPr/>
          <p:nvPr/>
        </p:nvSpPr>
        <p:spPr>
          <a:xfrm>
            <a:off x="1051084" y="5220057"/>
            <a:ext cx="589335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 detailed look into Campaign Activity, Connectivity Performance, and Student Reach dashboards.</a:t>
            </a:r>
            <a:endParaRPr lang="en-US" sz="1750" dirty="0"/>
          </a:p>
        </p:txBody>
      </p:sp>
      <p:sp>
        <p:nvSpPr>
          <p:cNvPr id="7" name="Shape 5"/>
          <p:cNvSpPr/>
          <p:nvPr/>
        </p:nvSpPr>
        <p:spPr>
          <a:xfrm>
            <a:off x="7428548" y="4454604"/>
            <a:ext cx="6408063" cy="1748552"/>
          </a:xfrm>
          <a:prstGeom prst="roundRect">
            <a:avLst>
              <a:gd name="adj" fmla="val 5448"/>
            </a:avLst>
          </a:prstGeom>
          <a:solidFill>
            <a:srgbClr val="FFFFFF">
              <a:alpha val="95000"/>
            </a:srgbClr>
          </a:solidFill>
          <a:ln w="30480">
            <a:solidFill>
              <a:srgbClr val="B2D4E5"/>
            </a:solidFill>
            <a:prstDash val="solid"/>
          </a:ln>
        </p:spPr>
        <p:txBody>
          <a:bodyPr/>
          <a:lstStyle/>
          <a:p>
            <a:endParaRPr lang="en-NG"/>
          </a:p>
        </p:txBody>
      </p:sp>
      <p:sp>
        <p:nvSpPr>
          <p:cNvPr id="8" name="Text 6"/>
          <p:cNvSpPr/>
          <p:nvPr/>
        </p:nvSpPr>
        <p:spPr>
          <a:xfrm>
            <a:off x="7685842" y="4711898"/>
            <a:ext cx="411110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Actionable Recommendations</a:t>
            </a:r>
            <a:endParaRPr lang="en-US" sz="2300" dirty="0"/>
          </a:p>
        </p:txBody>
      </p:sp>
      <p:sp>
        <p:nvSpPr>
          <p:cNvPr id="9" name="Text 7"/>
          <p:cNvSpPr/>
          <p:nvPr/>
        </p:nvSpPr>
        <p:spPr>
          <a:xfrm>
            <a:off x="7685842" y="5220057"/>
            <a:ext cx="589347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Specific, data-backed strategies to enhance campaign effectiveness and improve student engagement.</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4855" y="695206"/>
            <a:ext cx="5435679" cy="363141"/>
          </a:xfrm>
          <a:prstGeom prst="rect">
            <a:avLst/>
          </a:prstGeom>
          <a:noFill/>
          <a:ln/>
        </p:spPr>
        <p:txBody>
          <a:bodyPr wrap="none" lIns="0" tIns="0" rIns="0" bIns="0" rtlCol="0" anchor="t"/>
          <a:lstStyle/>
          <a:p>
            <a:pPr marL="0" indent="0" algn="l">
              <a:lnSpc>
                <a:spcPts val="2850"/>
              </a:lnSpc>
              <a:buNone/>
            </a:pPr>
            <a:r>
              <a:rPr lang="en-US" sz="2250" b="1" dirty="0">
                <a:solidFill>
                  <a:srgbClr val="000000"/>
                </a:solidFill>
                <a:latin typeface="Petrona Bold" pitchFamily="34" charset="0"/>
                <a:ea typeface="Petrona Bold" pitchFamily="34" charset="-122"/>
                <a:cs typeface="Petrona Bold" pitchFamily="34" charset="-120"/>
              </a:rPr>
              <a:t>Deep Dive: Campaign Activity Dashboard</a:t>
            </a:r>
            <a:endParaRPr lang="en-US" sz="2250" dirty="0"/>
          </a:p>
        </p:txBody>
      </p:sp>
      <p:sp>
        <p:nvSpPr>
          <p:cNvPr id="3" name="Text 1"/>
          <p:cNvSpPr/>
          <p:nvPr/>
        </p:nvSpPr>
        <p:spPr>
          <a:xfrm>
            <a:off x="744855" y="1265753"/>
            <a:ext cx="13140690" cy="442674"/>
          </a:xfrm>
          <a:prstGeom prst="rect">
            <a:avLst/>
          </a:prstGeom>
          <a:noFill/>
          <a:ln/>
        </p:spPr>
        <p:txBody>
          <a:bodyPr wrap="squar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The Campaign Activity Dashboard provides a holistic view of our engagement efforts, tracking total calls, category distribution, and trends over time. This data is crucial for understanding where our resources are most effectively deployed.</a:t>
            </a:r>
            <a:endParaRPr lang="en-US" sz="1050" dirty="0"/>
          </a:p>
        </p:txBody>
      </p:sp>
      <p:sp>
        <p:nvSpPr>
          <p:cNvPr id="4" name="Text 2"/>
          <p:cNvSpPr/>
          <p:nvPr/>
        </p:nvSpPr>
        <p:spPr>
          <a:xfrm>
            <a:off x="744855" y="1988463"/>
            <a:ext cx="7749421" cy="221337"/>
          </a:xfrm>
          <a:prstGeom prst="rect">
            <a:avLst/>
          </a:prstGeom>
          <a:noFill/>
          <a:ln/>
        </p:spPr>
        <p:txBody>
          <a:bodyPr wrap="none" lIns="0" tIns="0" rIns="0" bIns="0" rtlCol="0" anchor="t"/>
          <a:lstStyle/>
          <a:p>
            <a:pPr marL="0" indent="0" algn="l">
              <a:lnSpc>
                <a:spcPts val="1700"/>
              </a:lnSpc>
              <a:buNone/>
            </a:pPr>
            <a:endParaRPr lang="en-US" sz="1050" dirty="0"/>
          </a:p>
        </p:txBody>
      </p:sp>
      <p:pic>
        <p:nvPicPr>
          <p:cNvPr id="5"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2639" y="2686993"/>
            <a:ext cx="6202561" cy="4667267"/>
          </a:xfrm>
          <a:prstGeom prst="rect">
            <a:avLst/>
          </a:prstGeom>
        </p:spPr>
      </p:pic>
      <p:sp>
        <p:nvSpPr>
          <p:cNvPr id="6" name="Shape 3"/>
          <p:cNvSpPr/>
          <p:nvPr/>
        </p:nvSpPr>
        <p:spPr>
          <a:xfrm>
            <a:off x="8839319" y="2019657"/>
            <a:ext cx="5053727" cy="1431369"/>
          </a:xfrm>
          <a:prstGeom prst="roundRect">
            <a:avLst>
              <a:gd name="adj" fmla="val 4059"/>
            </a:avLst>
          </a:prstGeom>
          <a:solidFill>
            <a:srgbClr val="CCEEFF"/>
          </a:solidFill>
          <a:ln w="7620">
            <a:solidFill>
              <a:srgbClr val="B2D4E5"/>
            </a:solidFill>
            <a:prstDash val="solid"/>
          </a:ln>
        </p:spPr>
        <p:txBody>
          <a:bodyPr/>
          <a:lstStyle/>
          <a:p>
            <a:endParaRPr lang="en-NG"/>
          </a:p>
        </p:txBody>
      </p:sp>
      <p:sp>
        <p:nvSpPr>
          <p:cNvPr id="7" name="Shape 4"/>
          <p:cNvSpPr/>
          <p:nvPr/>
        </p:nvSpPr>
        <p:spPr>
          <a:xfrm>
            <a:off x="8985171" y="2165509"/>
            <a:ext cx="414933" cy="414933"/>
          </a:xfrm>
          <a:prstGeom prst="roundRect">
            <a:avLst>
              <a:gd name="adj" fmla="val 22035089"/>
            </a:avLst>
          </a:prstGeom>
          <a:solidFill>
            <a:srgbClr val="007EBD"/>
          </a:solidFill>
          <a:ln/>
        </p:spPr>
        <p:txBody>
          <a:bodyPr/>
          <a:lstStyle/>
          <a:p>
            <a:endParaRPr lang="en-NG"/>
          </a:p>
        </p:txBody>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99233" y="2279571"/>
            <a:ext cx="186690" cy="186690"/>
          </a:xfrm>
          <a:prstGeom prst="rect">
            <a:avLst/>
          </a:prstGeom>
        </p:spPr>
      </p:pic>
      <p:sp>
        <p:nvSpPr>
          <p:cNvPr id="9" name="Text 5"/>
          <p:cNvSpPr/>
          <p:nvPr/>
        </p:nvSpPr>
        <p:spPr>
          <a:xfrm>
            <a:off x="8985171" y="2718673"/>
            <a:ext cx="2080974" cy="226933"/>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Petrona Bold" pitchFamily="34" charset="0"/>
                <a:ea typeface="Petrona Bold" pitchFamily="34" charset="-122"/>
                <a:cs typeface="Petrona Bold" pitchFamily="34" charset="-120"/>
              </a:rPr>
              <a:t>Total Calls per Campaign</a:t>
            </a:r>
            <a:endParaRPr lang="en-US" sz="1400" dirty="0"/>
          </a:p>
        </p:txBody>
      </p:sp>
      <p:sp>
        <p:nvSpPr>
          <p:cNvPr id="10" name="Text 6"/>
          <p:cNvSpPr/>
          <p:nvPr/>
        </p:nvSpPr>
        <p:spPr>
          <a:xfrm>
            <a:off x="8985171" y="3083838"/>
            <a:ext cx="4762024" cy="221337"/>
          </a:xfrm>
          <a:prstGeom prst="rect">
            <a:avLst/>
          </a:prstGeom>
          <a:noFill/>
          <a:ln/>
        </p:spPr>
        <p:txBody>
          <a:bodyPr wrap="non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Tracking the volume of outreach for each initiative.</a:t>
            </a:r>
            <a:endParaRPr lang="en-US" sz="1050" dirty="0"/>
          </a:p>
        </p:txBody>
      </p:sp>
      <p:sp>
        <p:nvSpPr>
          <p:cNvPr id="11" name="Shape 7"/>
          <p:cNvSpPr/>
          <p:nvPr/>
        </p:nvSpPr>
        <p:spPr>
          <a:xfrm>
            <a:off x="8839319" y="3589258"/>
            <a:ext cx="5053727" cy="1431369"/>
          </a:xfrm>
          <a:prstGeom prst="roundRect">
            <a:avLst>
              <a:gd name="adj" fmla="val 4059"/>
            </a:avLst>
          </a:prstGeom>
          <a:solidFill>
            <a:srgbClr val="CCEEFF"/>
          </a:solidFill>
          <a:ln w="7620">
            <a:solidFill>
              <a:srgbClr val="B2D4E5"/>
            </a:solidFill>
            <a:prstDash val="solid"/>
          </a:ln>
        </p:spPr>
        <p:txBody>
          <a:bodyPr/>
          <a:lstStyle/>
          <a:p>
            <a:endParaRPr lang="en-NG"/>
          </a:p>
        </p:txBody>
      </p:sp>
      <p:sp>
        <p:nvSpPr>
          <p:cNvPr id="12" name="Shape 8"/>
          <p:cNvSpPr/>
          <p:nvPr/>
        </p:nvSpPr>
        <p:spPr>
          <a:xfrm>
            <a:off x="8985171" y="3735110"/>
            <a:ext cx="414933" cy="414933"/>
          </a:xfrm>
          <a:prstGeom prst="roundRect">
            <a:avLst>
              <a:gd name="adj" fmla="val 22035089"/>
            </a:avLst>
          </a:prstGeom>
          <a:solidFill>
            <a:srgbClr val="007EBD"/>
          </a:solidFill>
          <a:ln/>
        </p:spPr>
        <p:txBody>
          <a:bodyPr/>
          <a:lstStyle/>
          <a:p>
            <a:endParaRPr lang="en-NG"/>
          </a:p>
        </p:txBody>
      </p:sp>
      <p:pic>
        <p:nvPicPr>
          <p:cNvPr id="13"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99233" y="3849172"/>
            <a:ext cx="186690" cy="186690"/>
          </a:xfrm>
          <a:prstGeom prst="rect">
            <a:avLst/>
          </a:prstGeom>
        </p:spPr>
      </p:pic>
      <p:sp>
        <p:nvSpPr>
          <p:cNvPr id="14" name="Text 9"/>
          <p:cNvSpPr/>
          <p:nvPr/>
        </p:nvSpPr>
        <p:spPr>
          <a:xfrm>
            <a:off x="8985171" y="4288274"/>
            <a:ext cx="1815703" cy="226933"/>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Petrona Bold" pitchFamily="34" charset="0"/>
                <a:ea typeface="Petrona Bold" pitchFamily="34" charset="-122"/>
                <a:cs typeface="Petrona Bold" pitchFamily="34" charset="-120"/>
              </a:rPr>
              <a:t>Category Split</a:t>
            </a:r>
            <a:endParaRPr lang="en-US" sz="1400" dirty="0"/>
          </a:p>
        </p:txBody>
      </p:sp>
      <p:sp>
        <p:nvSpPr>
          <p:cNvPr id="15" name="Text 10"/>
          <p:cNvSpPr/>
          <p:nvPr/>
        </p:nvSpPr>
        <p:spPr>
          <a:xfrm>
            <a:off x="8985171" y="4653439"/>
            <a:ext cx="4762024" cy="221337"/>
          </a:xfrm>
          <a:prstGeom prst="rect">
            <a:avLst/>
          </a:prstGeom>
          <a:noFill/>
          <a:ln/>
        </p:spPr>
        <p:txBody>
          <a:bodyPr wrap="non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Understanding the distribution of calls across different campaign types.</a:t>
            </a:r>
            <a:endParaRPr lang="en-US" sz="1050" dirty="0"/>
          </a:p>
        </p:txBody>
      </p:sp>
      <p:sp>
        <p:nvSpPr>
          <p:cNvPr id="16" name="Shape 11"/>
          <p:cNvSpPr/>
          <p:nvPr/>
        </p:nvSpPr>
        <p:spPr>
          <a:xfrm>
            <a:off x="8839319" y="5158859"/>
            <a:ext cx="5053727" cy="1431369"/>
          </a:xfrm>
          <a:prstGeom prst="roundRect">
            <a:avLst>
              <a:gd name="adj" fmla="val 4059"/>
            </a:avLst>
          </a:prstGeom>
          <a:solidFill>
            <a:srgbClr val="CCEEFF"/>
          </a:solidFill>
          <a:ln w="7620">
            <a:solidFill>
              <a:srgbClr val="B2D4E5"/>
            </a:solidFill>
            <a:prstDash val="solid"/>
          </a:ln>
        </p:spPr>
        <p:txBody>
          <a:bodyPr/>
          <a:lstStyle/>
          <a:p>
            <a:endParaRPr lang="en-NG"/>
          </a:p>
        </p:txBody>
      </p:sp>
      <p:sp>
        <p:nvSpPr>
          <p:cNvPr id="17" name="Shape 12"/>
          <p:cNvSpPr/>
          <p:nvPr/>
        </p:nvSpPr>
        <p:spPr>
          <a:xfrm>
            <a:off x="8985171" y="5304711"/>
            <a:ext cx="414933" cy="414933"/>
          </a:xfrm>
          <a:prstGeom prst="roundRect">
            <a:avLst>
              <a:gd name="adj" fmla="val 22035089"/>
            </a:avLst>
          </a:prstGeom>
          <a:solidFill>
            <a:srgbClr val="007EBD"/>
          </a:solidFill>
          <a:ln/>
        </p:spPr>
        <p:txBody>
          <a:bodyPr/>
          <a:lstStyle/>
          <a:p>
            <a:endParaRPr lang="en-NG"/>
          </a:p>
        </p:txBody>
      </p:sp>
      <p:pic>
        <p:nvPicPr>
          <p:cNvPr id="1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99233" y="5418773"/>
            <a:ext cx="186690" cy="186690"/>
          </a:xfrm>
          <a:prstGeom prst="rect">
            <a:avLst/>
          </a:prstGeom>
        </p:spPr>
      </p:pic>
      <p:sp>
        <p:nvSpPr>
          <p:cNvPr id="19" name="Text 13"/>
          <p:cNvSpPr/>
          <p:nvPr/>
        </p:nvSpPr>
        <p:spPr>
          <a:xfrm>
            <a:off x="8985171" y="5857875"/>
            <a:ext cx="1815703" cy="226933"/>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Petrona Bold" pitchFamily="34" charset="0"/>
                <a:ea typeface="Petrona Bold" pitchFamily="34" charset="-122"/>
                <a:cs typeface="Petrona Bold" pitchFamily="34" charset="-120"/>
              </a:rPr>
              <a:t>Trends Over Time</a:t>
            </a:r>
            <a:endParaRPr lang="en-US" sz="1400" dirty="0"/>
          </a:p>
        </p:txBody>
      </p:sp>
      <p:sp>
        <p:nvSpPr>
          <p:cNvPr id="20" name="Text 14"/>
          <p:cNvSpPr/>
          <p:nvPr/>
        </p:nvSpPr>
        <p:spPr>
          <a:xfrm>
            <a:off x="8985171" y="6223040"/>
            <a:ext cx="4762024" cy="221337"/>
          </a:xfrm>
          <a:prstGeom prst="rect">
            <a:avLst/>
          </a:prstGeom>
          <a:noFill/>
          <a:ln/>
        </p:spPr>
        <p:txBody>
          <a:bodyPr wrap="non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Identifying patterns and shifts in campaign activity.</a:t>
            </a:r>
            <a:endParaRPr lang="en-US" sz="1050" dirty="0"/>
          </a:p>
        </p:txBody>
      </p:sp>
      <p:sp>
        <p:nvSpPr>
          <p:cNvPr id="21" name="Text 15"/>
          <p:cNvSpPr/>
          <p:nvPr/>
        </p:nvSpPr>
        <p:spPr>
          <a:xfrm>
            <a:off x="8839319" y="6745843"/>
            <a:ext cx="5053727" cy="664012"/>
          </a:xfrm>
          <a:prstGeom prst="rect">
            <a:avLst/>
          </a:prstGeom>
          <a:noFill/>
          <a:ln/>
        </p:spPr>
        <p:txBody>
          <a:bodyPr wrap="squar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A key finding from this dashboard reveals that </a:t>
            </a:r>
            <a:r>
              <a:rPr lang="en-US" sz="1050" b="1" dirty="0">
                <a:solidFill>
                  <a:srgbClr val="272525"/>
                </a:solidFill>
                <a:latin typeface="Inter" pitchFamily="34" charset="0"/>
                <a:ea typeface="Inter" pitchFamily="34" charset="-122"/>
                <a:cs typeface="Inter" pitchFamily="34" charset="-120"/>
              </a:rPr>
              <a:t>Post-Admission campaigns drove a significant 81.3% of total activity</a:t>
            </a:r>
            <a:r>
              <a:rPr lang="en-US" sz="1050" dirty="0">
                <a:solidFill>
                  <a:srgbClr val="272525"/>
                </a:solidFill>
                <a:latin typeface="Inter" pitchFamily="34" charset="0"/>
                <a:ea typeface="Inter" pitchFamily="34" charset="-122"/>
                <a:cs typeface="Inter" pitchFamily="34" charset="-120"/>
              </a:rPr>
              <a:t>, highlighting its critical role in our overall strategy.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58428"/>
            <a:ext cx="10981134" cy="416838"/>
          </a:xfrm>
          <a:prstGeom prst="rect">
            <a:avLst/>
          </a:prstGeom>
          <a:noFill/>
          <a:ln/>
        </p:spPr>
        <p:txBody>
          <a:bodyPr wrap="none" lIns="0" tIns="0" rIns="0" bIns="0" rtlCol="0" anchor="t"/>
          <a:lstStyle/>
          <a:p>
            <a:pPr marL="0" indent="0" algn="l">
              <a:lnSpc>
                <a:spcPts val="3250"/>
              </a:lnSpc>
              <a:buNone/>
            </a:pPr>
            <a:r>
              <a:rPr lang="en-US" sz="2600" b="1" dirty="0">
                <a:solidFill>
                  <a:srgbClr val="000000"/>
                </a:solidFill>
                <a:latin typeface="Petrona Bold" pitchFamily="34" charset="0"/>
                <a:ea typeface="Petrona Bold" pitchFamily="34" charset="-122"/>
                <a:cs typeface="Petrona Bold" pitchFamily="34" charset="-120"/>
              </a:rPr>
              <a:t>Assessing Outreach Effectiveness: Connectivity Performance Dashboard</a:t>
            </a:r>
            <a:endParaRPr lang="en-US" sz="2600" dirty="0"/>
          </a:p>
        </p:txBody>
      </p:sp>
      <p:sp>
        <p:nvSpPr>
          <p:cNvPr id="3" name="Text 1"/>
          <p:cNvSpPr/>
          <p:nvPr/>
        </p:nvSpPr>
        <p:spPr>
          <a:xfrm>
            <a:off x="793790" y="1492806"/>
            <a:ext cx="13042821" cy="50815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The Connectivity Performance Dashboard provides vital insights into the success rate of our outreach, showing how often we successfully connect with students. This metric is fundamental to evaluating the efficiency of our calling efforts.</a:t>
            </a:r>
            <a:endParaRPr lang="en-US" sz="1250" dirty="0"/>
          </a:p>
        </p:txBody>
      </p:sp>
      <p:sp>
        <p:nvSpPr>
          <p:cNvPr id="4" name="Text 2"/>
          <p:cNvSpPr/>
          <p:nvPr/>
        </p:nvSpPr>
        <p:spPr>
          <a:xfrm>
            <a:off x="793790" y="2437448"/>
            <a:ext cx="4984790" cy="523875"/>
          </a:xfrm>
          <a:prstGeom prst="rect">
            <a:avLst/>
          </a:prstGeom>
          <a:noFill/>
          <a:ln/>
        </p:spPr>
        <p:txBody>
          <a:bodyPr wrap="none" lIns="0" tIns="0" rIns="0" bIns="0" rtlCol="0" anchor="t"/>
          <a:lstStyle/>
          <a:p>
            <a:pPr marL="0" indent="0" algn="ctr">
              <a:lnSpc>
                <a:spcPts val="4100"/>
              </a:lnSpc>
              <a:buNone/>
            </a:pPr>
            <a:r>
              <a:rPr lang="en-US" sz="4100" b="1" dirty="0">
                <a:solidFill>
                  <a:srgbClr val="272525"/>
                </a:solidFill>
                <a:latin typeface="Petrona Bold" pitchFamily="34" charset="0"/>
                <a:ea typeface="Petrona Bold" pitchFamily="34" charset="-122"/>
                <a:cs typeface="Petrona Bold" pitchFamily="34" charset="-120"/>
              </a:rPr>
              <a:t>83.33%</a:t>
            </a:r>
            <a:endParaRPr lang="en-US" sz="4100" dirty="0"/>
          </a:p>
        </p:txBody>
      </p:sp>
      <p:sp>
        <p:nvSpPr>
          <p:cNvPr id="5" name="Text 3"/>
          <p:cNvSpPr/>
          <p:nvPr/>
        </p:nvSpPr>
        <p:spPr>
          <a:xfrm>
            <a:off x="2244209" y="3159681"/>
            <a:ext cx="2083951" cy="260390"/>
          </a:xfrm>
          <a:prstGeom prst="rect">
            <a:avLst/>
          </a:prstGeom>
          <a:noFill/>
          <a:ln/>
        </p:spPr>
        <p:txBody>
          <a:bodyPr wrap="none" lIns="0" tIns="0" rIns="0" bIns="0" rtlCol="0" anchor="t"/>
          <a:lstStyle/>
          <a:p>
            <a:pPr marL="0" indent="0" algn="ctr">
              <a:lnSpc>
                <a:spcPts val="2050"/>
              </a:lnSpc>
              <a:buNone/>
            </a:pPr>
            <a:r>
              <a:rPr lang="en-US" sz="1600" b="1" dirty="0">
                <a:solidFill>
                  <a:srgbClr val="272525"/>
                </a:solidFill>
                <a:latin typeface="Petrona Bold" pitchFamily="34" charset="0"/>
                <a:ea typeface="Petrona Bold" pitchFamily="34" charset="-122"/>
                <a:cs typeface="Petrona Bold" pitchFamily="34" charset="-120"/>
              </a:rPr>
              <a:t>Overall Connectivity</a:t>
            </a:r>
            <a:endParaRPr lang="en-US" sz="1600" dirty="0"/>
          </a:p>
        </p:txBody>
      </p:sp>
      <p:sp>
        <p:nvSpPr>
          <p:cNvPr id="6" name="Text 4"/>
          <p:cNvSpPr/>
          <p:nvPr/>
        </p:nvSpPr>
        <p:spPr>
          <a:xfrm>
            <a:off x="793790" y="3578781"/>
            <a:ext cx="4984790" cy="254079"/>
          </a:xfrm>
          <a:prstGeom prst="rect">
            <a:avLst/>
          </a:prstGeom>
          <a:noFill/>
          <a:ln/>
        </p:spPr>
        <p:txBody>
          <a:bodyPr wrap="none" lIns="0" tIns="0" rIns="0" bIns="0" rtlCol="0" anchor="t"/>
          <a:lstStyle/>
          <a:p>
            <a:pPr marL="0" indent="0" algn="ctr">
              <a:lnSpc>
                <a:spcPts val="2000"/>
              </a:lnSpc>
              <a:buNone/>
            </a:pPr>
            <a:r>
              <a:rPr lang="en-US" sz="1250" dirty="0">
                <a:solidFill>
                  <a:srgbClr val="272525"/>
                </a:solidFill>
                <a:latin typeface="Inter" pitchFamily="34" charset="0"/>
                <a:ea typeface="Inter" pitchFamily="34" charset="-122"/>
                <a:cs typeface="Inter" pitchFamily="34" charset="-120"/>
              </a:rPr>
              <a:t>Our current success rate in establishing contact with students.</a:t>
            </a:r>
            <a:endParaRPr lang="en-US" sz="1250" dirty="0"/>
          </a:p>
        </p:txBody>
      </p:sp>
      <p:sp>
        <p:nvSpPr>
          <p:cNvPr id="7" name="Text 5"/>
          <p:cNvSpPr/>
          <p:nvPr/>
        </p:nvSpPr>
        <p:spPr>
          <a:xfrm>
            <a:off x="793790" y="4229695"/>
            <a:ext cx="4984790" cy="523875"/>
          </a:xfrm>
          <a:prstGeom prst="rect">
            <a:avLst/>
          </a:prstGeom>
          <a:noFill/>
          <a:ln/>
        </p:spPr>
        <p:txBody>
          <a:bodyPr wrap="none" lIns="0" tIns="0" rIns="0" bIns="0" rtlCol="0" anchor="t"/>
          <a:lstStyle/>
          <a:p>
            <a:pPr marL="0" indent="0" algn="ctr">
              <a:lnSpc>
                <a:spcPts val="4100"/>
              </a:lnSpc>
              <a:buNone/>
            </a:pPr>
            <a:r>
              <a:rPr lang="en-US" sz="4100" b="1" dirty="0">
                <a:solidFill>
                  <a:srgbClr val="272525"/>
                </a:solidFill>
                <a:latin typeface="Petrona Bold" pitchFamily="34" charset="0"/>
                <a:ea typeface="Petrona Bold" pitchFamily="34" charset="-122"/>
                <a:cs typeface="Petrona Bold" pitchFamily="34" charset="-120"/>
              </a:rPr>
              <a:t>100%</a:t>
            </a:r>
            <a:endParaRPr lang="en-US" sz="4100" dirty="0"/>
          </a:p>
        </p:txBody>
      </p:sp>
      <p:sp>
        <p:nvSpPr>
          <p:cNvPr id="8" name="Text 6"/>
          <p:cNvSpPr/>
          <p:nvPr/>
        </p:nvSpPr>
        <p:spPr>
          <a:xfrm>
            <a:off x="2244209" y="4951928"/>
            <a:ext cx="2083951" cy="260390"/>
          </a:xfrm>
          <a:prstGeom prst="rect">
            <a:avLst/>
          </a:prstGeom>
          <a:noFill/>
          <a:ln/>
        </p:spPr>
        <p:txBody>
          <a:bodyPr wrap="none" lIns="0" tIns="0" rIns="0" bIns="0" rtlCol="0" anchor="t"/>
          <a:lstStyle/>
          <a:p>
            <a:pPr marL="0" indent="0" algn="ctr">
              <a:lnSpc>
                <a:spcPts val="2050"/>
              </a:lnSpc>
              <a:buNone/>
            </a:pPr>
            <a:r>
              <a:rPr lang="en-US" sz="1600" b="1" dirty="0">
                <a:solidFill>
                  <a:srgbClr val="272525"/>
                </a:solidFill>
                <a:latin typeface="Petrona Bold" pitchFamily="34" charset="0"/>
                <a:ea typeface="Petrona Bold" pitchFamily="34" charset="-122"/>
                <a:cs typeface="Petrona Bold" pitchFamily="34" charset="-120"/>
              </a:rPr>
              <a:t>Top Performer</a:t>
            </a:r>
            <a:endParaRPr lang="en-US" sz="1600" dirty="0"/>
          </a:p>
        </p:txBody>
      </p:sp>
      <p:sp>
        <p:nvSpPr>
          <p:cNvPr id="9" name="Text 7"/>
          <p:cNvSpPr/>
          <p:nvPr/>
        </p:nvSpPr>
        <p:spPr>
          <a:xfrm>
            <a:off x="793790" y="5371028"/>
            <a:ext cx="4984790" cy="508159"/>
          </a:xfrm>
          <a:prstGeom prst="rect">
            <a:avLst/>
          </a:prstGeom>
          <a:noFill/>
          <a:ln/>
        </p:spPr>
        <p:txBody>
          <a:bodyPr wrap="square" lIns="0" tIns="0" rIns="0" bIns="0" rtlCol="0" anchor="t"/>
          <a:lstStyle/>
          <a:p>
            <a:pPr marL="0" indent="0" algn="ctr">
              <a:lnSpc>
                <a:spcPts val="2000"/>
              </a:lnSpc>
              <a:buNone/>
            </a:pPr>
            <a:r>
              <a:rPr lang="en-US" sz="1250" dirty="0">
                <a:solidFill>
                  <a:srgbClr val="272525"/>
                </a:solidFill>
                <a:latin typeface="Inter" pitchFamily="34" charset="0"/>
                <a:ea typeface="Inter" pitchFamily="34" charset="-122"/>
                <a:cs typeface="Inter" pitchFamily="34" charset="-120"/>
              </a:rPr>
              <a:t>Mounika consistently achieves perfect connectivity, setting a benchmark for the team.</a:t>
            </a:r>
            <a:endParaRPr lang="en-US" sz="1250" dirty="0"/>
          </a:p>
        </p:txBody>
      </p:sp>
      <p:sp>
        <p:nvSpPr>
          <p:cNvPr id="10" name="Text 8"/>
          <p:cNvSpPr/>
          <p:nvPr/>
        </p:nvSpPr>
        <p:spPr>
          <a:xfrm>
            <a:off x="793790" y="6057781"/>
            <a:ext cx="4984790" cy="1270397"/>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Inter" pitchFamily="34" charset="0"/>
                <a:ea typeface="Inter" pitchFamily="34" charset="-122"/>
                <a:cs typeface="Inter" pitchFamily="34" charset="-120"/>
              </a:rPr>
              <a:t>While the overall connectivity rate stands at a strong </a:t>
            </a:r>
            <a:r>
              <a:rPr lang="en-US" sz="1250" b="1" dirty="0">
                <a:solidFill>
                  <a:srgbClr val="272525"/>
                </a:solidFill>
                <a:latin typeface="Inter" pitchFamily="34" charset="0"/>
                <a:ea typeface="Inter" pitchFamily="34" charset="-122"/>
                <a:cs typeface="Inter" pitchFamily="34" charset="-120"/>
              </a:rPr>
              <a:t>83.33%</a:t>
            </a:r>
            <a:r>
              <a:rPr lang="en-US" sz="1250" dirty="0">
                <a:solidFill>
                  <a:srgbClr val="272525"/>
                </a:solidFill>
                <a:latin typeface="Inter" pitchFamily="34" charset="0"/>
                <a:ea typeface="Inter" pitchFamily="34" charset="-122"/>
                <a:cs typeface="Inter" pitchFamily="34" charset="-120"/>
              </a:rPr>
              <a:t>, we observe variations across campaigns and geographic regions. Top performers like Mounika consistently achieve a </a:t>
            </a:r>
            <a:r>
              <a:rPr lang="en-US" sz="1250" b="1" dirty="0">
                <a:solidFill>
                  <a:srgbClr val="272525"/>
                </a:solidFill>
                <a:latin typeface="Inter" pitchFamily="34" charset="0"/>
                <a:ea typeface="Inter" pitchFamily="34" charset="-122"/>
                <a:cs typeface="Inter" pitchFamily="34" charset="-120"/>
              </a:rPr>
              <a:t>100% connectivity rate</a:t>
            </a:r>
            <a:r>
              <a:rPr lang="en-US" sz="1250" dirty="0">
                <a:solidFill>
                  <a:srgbClr val="272525"/>
                </a:solidFill>
                <a:latin typeface="Inter" pitchFamily="34" charset="0"/>
                <a:ea typeface="Inter" pitchFamily="34" charset="-122"/>
                <a:cs typeface="Inter" pitchFamily="34" charset="-120"/>
              </a:rPr>
              <a:t>, underscoring the potential for higher success across the board.</a:t>
            </a:r>
            <a:endParaRPr lang="en-US" sz="1250" dirty="0"/>
          </a:p>
        </p:txBody>
      </p:sp>
      <p:pic>
        <p:nvPicPr>
          <p:cNvPr id="11"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591381" y="2507168"/>
            <a:ext cx="5996344" cy="44928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144000" y="0"/>
            <a:ext cx="5486400" cy="8229600"/>
          </a:xfrm>
          <a:prstGeom prst="rect">
            <a:avLst/>
          </a:prstGeom>
        </p:spPr>
      </p:pic>
      <p:sp>
        <p:nvSpPr>
          <p:cNvPr id="3" name="Text 0"/>
          <p:cNvSpPr/>
          <p:nvPr/>
        </p:nvSpPr>
        <p:spPr>
          <a:xfrm>
            <a:off x="571857" y="481013"/>
            <a:ext cx="5979914" cy="278725"/>
          </a:xfrm>
          <a:prstGeom prst="rect">
            <a:avLst/>
          </a:prstGeom>
          <a:noFill/>
          <a:ln/>
        </p:spPr>
        <p:txBody>
          <a:bodyPr wrap="none" lIns="0" tIns="0" rIns="0" bIns="0" rtlCol="0" anchor="t"/>
          <a:lstStyle/>
          <a:p>
            <a:pPr marL="0" indent="0" algn="l">
              <a:lnSpc>
                <a:spcPts val="2150"/>
              </a:lnSpc>
              <a:buNone/>
            </a:pPr>
            <a:r>
              <a:rPr lang="en-US" sz="1750" b="1" dirty="0">
                <a:solidFill>
                  <a:srgbClr val="000000"/>
                </a:solidFill>
                <a:latin typeface="Petrona Bold" pitchFamily="34" charset="0"/>
                <a:ea typeface="Petrona Bold" pitchFamily="34" charset="-122"/>
                <a:cs typeface="Petrona Bold" pitchFamily="34" charset="-120"/>
              </a:rPr>
              <a:t>Measuring Impact: Student Reach Performance Dashboard</a:t>
            </a:r>
            <a:endParaRPr lang="en-US" sz="1750" dirty="0"/>
          </a:p>
        </p:txBody>
      </p:sp>
      <p:sp>
        <p:nvSpPr>
          <p:cNvPr id="4" name="Text 1"/>
          <p:cNvSpPr/>
          <p:nvPr/>
        </p:nvSpPr>
        <p:spPr>
          <a:xfrm>
            <a:off x="571857" y="919043"/>
            <a:ext cx="8000286" cy="339804"/>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Inter" pitchFamily="34" charset="0"/>
                <a:ea typeface="Inter" pitchFamily="34" charset="-122"/>
                <a:cs typeface="Inter" pitchFamily="34" charset="-120"/>
              </a:rPr>
              <a:t>The Student Reach Performance Dashboard focuses on the ultimate goal: connecting with individual students. It tracks unique students reached, highlights top performers, and visualizes overall reach trends, distinguishing between total and successful connections.</a:t>
            </a:r>
            <a:endParaRPr lang="en-US" sz="800" dirty="0"/>
          </a:p>
        </p:txBody>
      </p:sp>
      <p:sp>
        <p:nvSpPr>
          <p:cNvPr id="5" name="Shape 2"/>
          <p:cNvSpPr/>
          <p:nvPr/>
        </p:nvSpPr>
        <p:spPr>
          <a:xfrm>
            <a:off x="571857" y="1378268"/>
            <a:ext cx="8000286" cy="635437"/>
          </a:xfrm>
          <a:prstGeom prst="roundRect">
            <a:avLst>
              <a:gd name="adj" fmla="val 40115"/>
            </a:avLst>
          </a:prstGeom>
          <a:solidFill>
            <a:srgbClr val="CCEEFF"/>
          </a:solidFill>
          <a:ln w="7620">
            <a:solidFill>
              <a:srgbClr val="B2D4E5"/>
            </a:solidFill>
            <a:prstDash val="solid"/>
          </a:ln>
        </p:spPr>
        <p:txBody>
          <a:bodyPr/>
          <a:lstStyle/>
          <a:p>
            <a:endParaRPr lang="en-NG"/>
          </a:p>
        </p:txBody>
      </p:sp>
      <p:sp>
        <p:nvSpPr>
          <p:cNvPr id="6" name="Text 3"/>
          <p:cNvSpPr/>
          <p:nvPr/>
        </p:nvSpPr>
        <p:spPr>
          <a:xfrm>
            <a:off x="685681" y="1492091"/>
            <a:ext cx="1643777" cy="174188"/>
          </a:xfrm>
          <a:prstGeom prst="rect">
            <a:avLst/>
          </a:prstGeom>
          <a:noFill/>
          <a:ln/>
        </p:spPr>
        <p:txBody>
          <a:bodyPr wrap="none" lIns="0" tIns="0" rIns="0" bIns="0" rtlCol="0" anchor="t"/>
          <a:lstStyle/>
          <a:p>
            <a:pPr marL="0" indent="0" algn="l">
              <a:lnSpc>
                <a:spcPts val="1350"/>
              </a:lnSpc>
              <a:buNone/>
            </a:pPr>
            <a:r>
              <a:rPr lang="en-US" sz="1050" b="1" dirty="0">
                <a:solidFill>
                  <a:srgbClr val="272525"/>
                </a:solidFill>
                <a:latin typeface="Petrona Bold" pitchFamily="34" charset="0"/>
                <a:ea typeface="Petrona Bold" pitchFamily="34" charset="-122"/>
                <a:cs typeface="Petrona Bold" pitchFamily="34" charset="-120"/>
              </a:rPr>
              <a:t>Unique Students Reached</a:t>
            </a:r>
            <a:endParaRPr lang="en-US" sz="1050" dirty="0"/>
          </a:p>
        </p:txBody>
      </p:sp>
      <p:sp>
        <p:nvSpPr>
          <p:cNvPr id="7" name="Text 4"/>
          <p:cNvSpPr/>
          <p:nvPr/>
        </p:nvSpPr>
        <p:spPr>
          <a:xfrm>
            <a:off x="685681" y="1729978"/>
            <a:ext cx="7772638" cy="169902"/>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Inter" pitchFamily="34" charset="0"/>
                <a:ea typeface="Inter" pitchFamily="34" charset="-122"/>
                <a:cs typeface="Inter" pitchFamily="34" charset="-120"/>
              </a:rPr>
              <a:t>Monitoring the breadth of our outreach efforts across different campaigns.</a:t>
            </a:r>
            <a:endParaRPr lang="en-US" sz="800" dirty="0"/>
          </a:p>
        </p:txBody>
      </p:sp>
      <p:sp>
        <p:nvSpPr>
          <p:cNvPr id="8" name="Shape 5"/>
          <p:cNvSpPr/>
          <p:nvPr/>
        </p:nvSpPr>
        <p:spPr>
          <a:xfrm>
            <a:off x="571857" y="2119908"/>
            <a:ext cx="8000286" cy="635437"/>
          </a:xfrm>
          <a:prstGeom prst="roundRect">
            <a:avLst>
              <a:gd name="adj" fmla="val 40115"/>
            </a:avLst>
          </a:prstGeom>
          <a:solidFill>
            <a:srgbClr val="CCEEFF"/>
          </a:solidFill>
          <a:ln w="7620">
            <a:solidFill>
              <a:srgbClr val="B2D4E5"/>
            </a:solidFill>
            <a:prstDash val="solid"/>
          </a:ln>
        </p:spPr>
        <p:txBody>
          <a:bodyPr/>
          <a:lstStyle/>
          <a:p>
            <a:endParaRPr lang="en-NG"/>
          </a:p>
        </p:txBody>
      </p:sp>
      <p:sp>
        <p:nvSpPr>
          <p:cNvPr id="9" name="Text 6"/>
          <p:cNvSpPr/>
          <p:nvPr/>
        </p:nvSpPr>
        <p:spPr>
          <a:xfrm>
            <a:off x="685681" y="2233732"/>
            <a:ext cx="1747242" cy="174188"/>
          </a:xfrm>
          <a:prstGeom prst="rect">
            <a:avLst/>
          </a:prstGeom>
          <a:noFill/>
          <a:ln/>
        </p:spPr>
        <p:txBody>
          <a:bodyPr wrap="none" lIns="0" tIns="0" rIns="0" bIns="0" rtlCol="0" anchor="t"/>
          <a:lstStyle/>
          <a:p>
            <a:pPr marL="0" indent="0" algn="l">
              <a:lnSpc>
                <a:spcPts val="1350"/>
              </a:lnSpc>
              <a:buNone/>
            </a:pPr>
            <a:r>
              <a:rPr lang="en-US" sz="1050" b="1" dirty="0">
                <a:solidFill>
                  <a:srgbClr val="272525"/>
                </a:solidFill>
                <a:latin typeface="Petrona Bold" pitchFamily="34" charset="0"/>
                <a:ea typeface="Petrona Bold" pitchFamily="34" charset="-122"/>
                <a:cs typeface="Petrona Bold" pitchFamily="34" charset="-120"/>
              </a:rPr>
              <a:t>Top Callers by Connectivity</a:t>
            </a:r>
            <a:endParaRPr lang="en-US" sz="1050" dirty="0"/>
          </a:p>
        </p:txBody>
      </p:sp>
      <p:sp>
        <p:nvSpPr>
          <p:cNvPr id="10" name="Text 7"/>
          <p:cNvSpPr/>
          <p:nvPr/>
        </p:nvSpPr>
        <p:spPr>
          <a:xfrm>
            <a:off x="685681" y="2471618"/>
            <a:ext cx="7772638" cy="169902"/>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Inter" pitchFamily="34" charset="0"/>
                <a:ea typeface="Inter" pitchFamily="34" charset="-122"/>
                <a:cs typeface="Inter" pitchFamily="34" charset="-120"/>
              </a:rPr>
              <a:t>Identifying individuals who excel at establishing successful contact.</a:t>
            </a:r>
            <a:endParaRPr lang="en-US" sz="800" dirty="0"/>
          </a:p>
        </p:txBody>
      </p:sp>
      <p:sp>
        <p:nvSpPr>
          <p:cNvPr id="11" name="Shape 8"/>
          <p:cNvSpPr/>
          <p:nvPr/>
        </p:nvSpPr>
        <p:spPr>
          <a:xfrm>
            <a:off x="571857" y="2861548"/>
            <a:ext cx="8000286" cy="635437"/>
          </a:xfrm>
          <a:prstGeom prst="roundRect">
            <a:avLst>
              <a:gd name="adj" fmla="val 40115"/>
            </a:avLst>
          </a:prstGeom>
          <a:solidFill>
            <a:srgbClr val="CCEEFF"/>
          </a:solidFill>
          <a:ln w="7620">
            <a:solidFill>
              <a:srgbClr val="B2D4E5"/>
            </a:solidFill>
            <a:prstDash val="solid"/>
          </a:ln>
        </p:spPr>
        <p:txBody>
          <a:bodyPr/>
          <a:lstStyle/>
          <a:p>
            <a:endParaRPr lang="en-NG"/>
          </a:p>
        </p:txBody>
      </p:sp>
      <p:sp>
        <p:nvSpPr>
          <p:cNvPr id="12" name="Text 9"/>
          <p:cNvSpPr/>
          <p:nvPr/>
        </p:nvSpPr>
        <p:spPr>
          <a:xfrm>
            <a:off x="685681" y="2975372"/>
            <a:ext cx="1393984" cy="174188"/>
          </a:xfrm>
          <a:prstGeom prst="rect">
            <a:avLst/>
          </a:prstGeom>
          <a:noFill/>
          <a:ln/>
        </p:spPr>
        <p:txBody>
          <a:bodyPr wrap="none" lIns="0" tIns="0" rIns="0" bIns="0" rtlCol="0" anchor="t"/>
          <a:lstStyle/>
          <a:p>
            <a:pPr marL="0" indent="0" algn="l">
              <a:lnSpc>
                <a:spcPts val="1350"/>
              </a:lnSpc>
              <a:buNone/>
            </a:pPr>
            <a:r>
              <a:rPr lang="en-US" sz="1050" b="1" dirty="0">
                <a:solidFill>
                  <a:srgbClr val="272525"/>
                </a:solidFill>
                <a:latin typeface="Petrona Bold" pitchFamily="34" charset="0"/>
                <a:ea typeface="Petrona Bold" pitchFamily="34" charset="-122"/>
                <a:cs typeface="Petrona Bold" pitchFamily="34" charset="-120"/>
              </a:rPr>
              <a:t>Reach Over Time</a:t>
            </a:r>
            <a:endParaRPr lang="en-US" sz="1050" dirty="0"/>
          </a:p>
        </p:txBody>
      </p:sp>
      <p:sp>
        <p:nvSpPr>
          <p:cNvPr id="13" name="Text 10"/>
          <p:cNvSpPr/>
          <p:nvPr/>
        </p:nvSpPr>
        <p:spPr>
          <a:xfrm>
            <a:off x="685681" y="3213259"/>
            <a:ext cx="7772638" cy="169902"/>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Inter" pitchFamily="34" charset="0"/>
                <a:ea typeface="Inter" pitchFamily="34" charset="-122"/>
                <a:cs typeface="Inter" pitchFamily="34" charset="-120"/>
              </a:rPr>
              <a:t>Analyzing the evolution of student connections and identifying peak periods.</a:t>
            </a:r>
            <a:endParaRPr lang="en-US" sz="800" dirty="0"/>
          </a:p>
        </p:txBody>
      </p:sp>
      <p:sp>
        <p:nvSpPr>
          <p:cNvPr id="14" name="Shape 11"/>
          <p:cNvSpPr/>
          <p:nvPr/>
        </p:nvSpPr>
        <p:spPr>
          <a:xfrm>
            <a:off x="571857" y="3603188"/>
            <a:ext cx="8000286" cy="635437"/>
          </a:xfrm>
          <a:prstGeom prst="roundRect">
            <a:avLst>
              <a:gd name="adj" fmla="val 40115"/>
            </a:avLst>
          </a:prstGeom>
          <a:solidFill>
            <a:srgbClr val="CCEEFF"/>
          </a:solidFill>
          <a:ln w="7620">
            <a:solidFill>
              <a:srgbClr val="B2D4E5"/>
            </a:solidFill>
            <a:prstDash val="solid"/>
          </a:ln>
        </p:spPr>
        <p:txBody>
          <a:bodyPr/>
          <a:lstStyle/>
          <a:p>
            <a:endParaRPr lang="en-NG"/>
          </a:p>
        </p:txBody>
      </p:sp>
      <p:sp>
        <p:nvSpPr>
          <p:cNvPr id="15" name="Text 12"/>
          <p:cNvSpPr/>
          <p:nvPr/>
        </p:nvSpPr>
        <p:spPr>
          <a:xfrm>
            <a:off x="685681" y="3717012"/>
            <a:ext cx="1643301" cy="174188"/>
          </a:xfrm>
          <a:prstGeom prst="rect">
            <a:avLst/>
          </a:prstGeom>
          <a:noFill/>
          <a:ln/>
        </p:spPr>
        <p:txBody>
          <a:bodyPr wrap="none" lIns="0" tIns="0" rIns="0" bIns="0" rtlCol="0" anchor="t"/>
          <a:lstStyle/>
          <a:p>
            <a:pPr marL="0" indent="0" algn="l">
              <a:lnSpc>
                <a:spcPts val="1350"/>
              </a:lnSpc>
              <a:buNone/>
            </a:pPr>
            <a:r>
              <a:rPr lang="en-US" sz="1050" b="1" dirty="0">
                <a:solidFill>
                  <a:srgbClr val="272525"/>
                </a:solidFill>
                <a:latin typeface="Petrona Bold" pitchFamily="34" charset="0"/>
                <a:ea typeface="Petrona Bold" pitchFamily="34" charset="-122"/>
                <a:cs typeface="Petrona Bold" pitchFamily="34" charset="-120"/>
              </a:rPr>
              <a:t>Total vs. Successful Reach</a:t>
            </a:r>
            <a:endParaRPr lang="en-US" sz="1050" dirty="0"/>
          </a:p>
        </p:txBody>
      </p:sp>
      <p:sp>
        <p:nvSpPr>
          <p:cNvPr id="16" name="Text 13"/>
          <p:cNvSpPr/>
          <p:nvPr/>
        </p:nvSpPr>
        <p:spPr>
          <a:xfrm>
            <a:off x="685681" y="3954899"/>
            <a:ext cx="7772638" cy="169902"/>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Inter" pitchFamily="34" charset="0"/>
                <a:ea typeface="Inter" pitchFamily="34" charset="-122"/>
                <a:cs typeface="Inter" pitchFamily="34" charset="-120"/>
              </a:rPr>
              <a:t>Distinguishing between attempted contacts and actual connections made.</a:t>
            </a:r>
            <a:endParaRPr lang="en-US" sz="800" dirty="0"/>
          </a:p>
        </p:txBody>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71857" y="4358045"/>
            <a:ext cx="4507349" cy="33905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2944" y="649010"/>
            <a:ext cx="6656427" cy="422196"/>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Petrona Bold" pitchFamily="34" charset="0"/>
                <a:ea typeface="Petrona Bold" pitchFamily="34" charset="-122"/>
                <a:cs typeface="Petrona Bold" pitchFamily="34" charset="-120"/>
              </a:rPr>
              <a:t>Key Insights &amp; Strategic Recommendations</a:t>
            </a:r>
            <a:endParaRPr lang="en-US" sz="2650" dirty="0"/>
          </a:p>
        </p:txBody>
      </p:sp>
      <p:sp>
        <p:nvSpPr>
          <p:cNvPr id="3" name="Text 1"/>
          <p:cNvSpPr/>
          <p:nvPr/>
        </p:nvSpPr>
        <p:spPr>
          <a:xfrm>
            <a:off x="692944" y="1328499"/>
            <a:ext cx="13244513" cy="205859"/>
          </a:xfrm>
          <a:prstGeom prst="rect">
            <a:avLst/>
          </a:prstGeom>
          <a:noFill/>
          <a:ln/>
        </p:spPr>
        <p:txBody>
          <a:bodyPr wrap="none" lIns="0" tIns="0" rIns="0" bIns="0" rtlCol="0" anchor="t"/>
          <a:lstStyle/>
          <a:p>
            <a:pPr marL="0" indent="0" algn="l">
              <a:lnSpc>
                <a:spcPts val="1600"/>
              </a:lnSpc>
              <a:buNone/>
            </a:pPr>
            <a:r>
              <a:rPr lang="en-US" sz="1000" dirty="0">
                <a:solidFill>
                  <a:srgbClr val="272525"/>
                </a:solidFill>
                <a:latin typeface="Inter" pitchFamily="34" charset="0"/>
                <a:ea typeface="Inter" pitchFamily="34" charset="-122"/>
                <a:cs typeface="Inter" pitchFamily="34" charset="-120"/>
              </a:rPr>
              <a:t>Our analysis across all three dashboards has revealed critical insights into our campaign effectiveness, paving the way for targeted improvements and strategic optimizations.</a:t>
            </a:r>
            <a:endParaRPr lang="en-US" sz="1000" dirty="0"/>
          </a:p>
        </p:txBody>
      </p:sp>
      <p:sp>
        <p:nvSpPr>
          <p:cNvPr id="4" name="Text 2"/>
          <p:cNvSpPr/>
          <p:nvPr/>
        </p:nvSpPr>
        <p:spPr>
          <a:xfrm>
            <a:off x="692944" y="1807726"/>
            <a:ext cx="2702481" cy="337780"/>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Petrona Bold" pitchFamily="34" charset="0"/>
                <a:ea typeface="Petrona Bold" pitchFamily="34" charset="-122"/>
                <a:cs typeface="Petrona Bold" pitchFamily="34" charset="-120"/>
              </a:rPr>
              <a:t>Key Insights</a:t>
            </a:r>
            <a:endParaRPr lang="en-US" sz="21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164" y="2294215"/>
            <a:ext cx="193000" cy="193000"/>
          </a:xfrm>
          <a:prstGeom prst="rect">
            <a:avLst/>
          </a:prstGeom>
        </p:spPr>
      </p:pic>
      <p:sp>
        <p:nvSpPr>
          <p:cNvPr id="6" name="Text 3"/>
          <p:cNvSpPr/>
          <p:nvPr/>
        </p:nvSpPr>
        <p:spPr>
          <a:xfrm>
            <a:off x="1111091" y="2290286"/>
            <a:ext cx="2149554" cy="211098"/>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Strong Overall Performance</a:t>
            </a:r>
            <a:endParaRPr lang="en-US" sz="1300" dirty="0"/>
          </a:p>
        </p:txBody>
      </p:sp>
      <p:sp>
        <p:nvSpPr>
          <p:cNvPr id="7" name="Text 4"/>
          <p:cNvSpPr/>
          <p:nvPr/>
        </p:nvSpPr>
        <p:spPr>
          <a:xfrm>
            <a:off x="1111091" y="2629972"/>
            <a:ext cx="6047184" cy="205859"/>
          </a:xfrm>
          <a:prstGeom prst="rect">
            <a:avLst/>
          </a:prstGeom>
          <a:noFill/>
          <a:ln/>
        </p:spPr>
        <p:txBody>
          <a:bodyPr wrap="none" lIns="0" tIns="0" rIns="0" bIns="0" rtlCol="0" anchor="t"/>
          <a:lstStyle/>
          <a:p>
            <a:pPr marL="0" indent="0" algn="l">
              <a:lnSpc>
                <a:spcPts val="1600"/>
              </a:lnSpc>
              <a:buNone/>
            </a:pPr>
            <a:r>
              <a:rPr lang="en-US" sz="1000" dirty="0">
                <a:solidFill>
                  <a:srgbClr val="272525"/>
                </a:solidFill>
                <a:latin typeface="Inter" pitchFamily="34" charset="0"/>
                <a:ea typeface="Inter" pitchFamily="34" charset="-122"/>
                <a:cs typeface="Inter" pitchFamily="34" charset="-120"/>
              </a:rPr>
              <a:t>With an 83.33% connectivity rate, the team is effectively reaching most prospects.</a:t>
            </a:r>
            <a:endParaRPr lang="en-US" sz="100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164" y="3097054"/>
            <a:ext cx="193000" cy="193000"/>
          </a:xfrm>
          <a:prstGeom prst="rect">
            <a:avLst/>
          </a:prstGeom>
        </p:spPr>
      </p:pic>
      <p:sp>
        <p:nvSpPr>
          <p:cNvPr id="9" name="Text 5"/>
          <p:cNvSpPr/>
          <p:nvPr/>
        </p:nvSpPr>
        <p:spPr>
          <a:xfrm>
            <a:off x="1111091" y="3093125"/>
            <a:ext cx="2009180" cy="211098"/>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Top Performers Stand Out</a:t>
            </a:r>
            <a:endParaRPr lang="en-US" sz="1300" dirty="0"/>
          </a:p>
        </p:txBody>
      </p:sp>
      <p:sp>
        <p:nvSpPr>
          <p:cNvPr id="10" name="Text 6"/>
          <p:cNvSpPr/>
          <p:nvPr/>
        </p:nvSpPr>
        <p:spPr>
          <a:xfrm>
            <a:off x="1111091" y="3432810"/>
            <a:ext cx="6047184" cy="411718"/>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Inter" pitchFamily="34" charset="0"/>
                <a:ea typeface="Inter" pitchFamily="34" charset="-122"/>
                <a:cs typeface="Inter" pitchFamily="34" charset="-120"/>
              </a:rPr>
              <a:t>Mounika, Jyoti, and Rudra consistently achieve 90%+ connectivity rates, showcasing best practices.</a:t>
            </a:r>
            <a:endParaRPr lang="en-US" sz="100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164" y="4105751"/>
            <a:ext cx="193000" cy="193000"/>
          </a:xfrm>
          <a:prstGeom prst="rect">
            <a:avLst/>
          </a:prstGeom>
        </p:spPr>
      </p:pic>
      <p:sp>
        <p:nvSpPr>
          <p:cNvPr id="12" name="Text 7"/>
          <p:cNvSpPr/>
          <p:nvPr/>
        </p:nvSpPr>
        <p:spPr>
          <a:xfrm>
            <a:off x="1111091" y="4101822"/>
            <a:ext cx="1689021" cy="211098"/>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Campaign Variation</a:t>
            </a:r>
            <a:endParaRPr lang="en-US" sz="1300" dirty="0"/>
          </a:p>
        </p:txBody>
      </p:sp>
      <p:sp>
        <p:nvSpPr>
          <p:cNvPr id="13" name="Text 8"/>
          <p:cNvSpPr/>
          <p:nvPr/>
        </p:nvSpPr>
        <p:spPr>
          <a:xfrm>
            <a:off x="1111091" y="4441508"/>
            <a:ext cx="6047184" cy="205859"/>
          </a:xfrm>
          <a:prstGeom prst="rect">
            <a:avLst/>
          </a:prstGeom>
          <a:noFill/>
          <a:ln/>
        </p:spPr>
        <p:txBody>
          <a:bodyPr wrap="none" lIns="0" tIns="0" rIns="0" bIns="0" rtlCol="0" anchor="t"/>
          <a:lstStyle/>
          <a:p>
            <a:pPr marL="0" indent="0" algn="l">
              <a:lnSpc>
                <a:spcPts val="1600"/>
              </a:lnSpc>
              <a:buNone/>
            </a:pPr>
            <a:r>
              <a:rPr lang="en-US" sz="1000" dirty="0">
                <a:solidFill>
                  <a:srgbClr val="272525"/>
                </a:solidFill>
                <a:latin typeface="Inter" pitchFamily="34" charset="0"/>
                <a:ea typeface="Inter" pitchFamily="34" charset="-122"/>
                <a:cs typeface="Inter" pitchFamily="34" charset="-120"/>
              </a:rPr>
              <a:t>High-volume campaigns often exhibit high success rates, suggesting replicable strategies.</a:t>
            </a:r>
            <a:endParaRPr lang="en-US" sz="1000" dirty="0"/>
          </a:p>
        </p:txBody>
      </p:sp>
      <p:pic>
        <p:nvPicPr>
          <p:cNvPr id="14"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164" y="4908590"/>
            <a:ext cx="193000" cy="193000"/>
          </a:xfrm>
          <a:prstGeom prst="rect">
            <a:avLst/>
          </a:prstGeom>
        </p:spPr>
      </p:pic>
      <p:sp>
        <p:nvSpPr>
          <p:cNvPr id="15" name="Text 9"/>
          <p:cNvSpPr/>
          <p:nvPr/>
        </p:nvSpPr>
        <p:spPr>
          <a:xfrm>
            <a:off x="1111091" y="4904661"/>
            <a:ext cx="1689021" cy="211098"/>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Timing &amp; Geography</a:t>
            </a:r>
            <a:endParaRPr lang="en-US" sz="1300" dirty="0"/>
          </a:p>
        </p:txBody>
      </p:sp>
      <p:sp>
        <p:nvSpPr>
          <p:cNvPr id="16" name="Text 10"/>
          <p:cNvSpPr/>
          <p:nvPr/>
        </p:nvSpPr>
        <p:spPr>
          <a:xfrm>
            <a:off x="1111091" y="5244346"/>
            <a:ext cx="6047184" cy="411718"/>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Inter" pitchFamily="34" charset="0"/>
                <a:ea typeface="Inter" pitchFamily="34" charset="-122"/>
                <a:cs typeface="Inter" pitchFamily="34" charset="-120"/>
              </a:rPr>
              <a:t>Volume and success are concentrated in specific months and countries (e.g., India), indicating opportunities for focused efforts.</a:t>
            </a:r>
            <a:endParaRPr lang="en-US" sz="1000" dirty="0"/>
          </a:p>
        </p:txBody>
      </p:sp>
      <p:sp>
        <p:nvSpPr>
          <p:cNvPr id="17" name="Text 11"/>
          <p:cNvSpPr/>
          <p:nvPr/>
        </p:nvSpPr>
        <p:spPr>
          <a:xfrm>
            <a:off x="7479744" y="1807726"/>
            <a:ext cx="3382923" cy="337780"/>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Petrona Bold" pitchFamily="34" charset="0"/>
                <a:ea typeface="Petrona Bold" pitchFamily="34" charset="-122"/>
                <a:cs typeface="Petrona Bold" pitchFamily="34" charset="-120"/>
              </a:rPr>
              <a:t>Specific Recommendations</a:t>
            </a:r>
            <a:endParaRPr lang="en-US" sz="2100" dirty="0"/>
          </a:p>
        </p:txBody>
      </p:sp>
      <p:sp>
        <p:nvSpPr>
          <p:cNvPr id="18" name="Shape 12"/>
          <p:cNvSpPr/>
          <p:nvPr/>
        </p:nvSpPr>
        <p:spPr>
          <a:xfrm>
            <a:off x="7479744" y="2290286"/>
            <a:ext cx="514707" cy="802719"/>
          </a:xfrm>
          <a:prstGeom prst="roundRect">
            <a:avLst>
              <a:gd name="adj" fmla="val 360049"/>
            </a:avLst>
          </a:prstGeom>
          <a:solidFill>
            <a:srgbClr val="CCEEFF"/>
          </a:solidFill>
          <a:ln w="7620">
            <a:solidFill>
              <a:srgbClr val="B2D4E5"/>
            </a:solidFill>
            <a:prstDash val="solid"/>
          </a:ln>
        </p:spPr>
        <p:txBody>
          <a:bodyPr/>
          <a:lstStyle/>
          <a:p>
            <a:endParaRPr lang="en-NG"/>
          </a:p>
        </p:txBody>
      </p:sp>
      <p:sp>
        <p:nvSpPr>
          <p:cNvPr id="19" name="Text 13"/>
          <p:cNvSpPr/>
          <p:nvPr/>
        </p:nvSpPr>
        <p:spPr>
          <a:xfrm>
            <a:off x="7640598" y="2571036"/>
            <a:ext cx="193000" cy="241221"/>
          </a:xfrm>
          <a:prstGeom prst="rect">
            <a:avLst/>
          </a:prstGeom>
          <a:noFill/>
          <a:ln/>
        </p:spPr>
        <p:txBody>
          <a:bodyPr wrap="none" lIns="0" tIns="0" rIns="0" bIns="0" rtlCol="0" anchor="t"/>
          <a:lstStyle/>
          <a:p>
            <a:pPr marL="0" indent="0" algn="l">
              <a:lnSpc>
                <a:spcPts val="1500"/>
              </a:lnSpc>
              <a:buNone/>
            </a:pPr>
            <a:r>
              <a:rPr lang="en-US" sz="1500" b="1" dirty="0">
                <a:solidFill>
                  <a:srgbClr val="272525"/>
                </a:solidFill>
                <a:latin typeface="Petrona Bold" pitchFamily="34" charset="0"/>
                <a:ea typeface="Petrona Bold" pitchFamily="34" charset="-122"/>
                <a:cs typeface="Petrona Bold" pitchFamily="34" charset="-120"/>
              </a:rPr>
              <a:t>1</a:t>
            </a:r>
            <a:endParaRPr lang="en-US" sz="1500" dirty="0"/>
          </a:p>
        </p:txBody>
      </p:sp>
      <p:sp>
        <p:nvSpPr>
          <p:cNvPr id="20" name="Text 14"/>
          <p:cNvSpPr/>
          <p:nvPr/>
        </p:nvSpPr>
        <p:spPr>
          <a:xfrm>
            <a:off x="8123039" y="2418874"/>
            <a:ext cx="2612708" cy="211098"/>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Recognize &amp; Replicate Top Callers</a:t>
            </a:r>
            <a:endParaRPr lang="en-US" sz="1300" dirty="0"/>
          </a:p>
        </p:txBody>
      </p:sp>
      <p:sp>
        <p:nvSpPr>
          <p:cNvPr id="21" name="Text 15"/>
          <p:cNvSpPr/>
          <p:nvPr/>
        </p:nvSpPr>
        <p:spPr>
          <a:xfrm>
            <a:off x="8123039" y="2758559"/>
            <a:ext cx="5822037" cy="205859"/>
          </a:xfrm>
          <a:prstGeom prst="rect">
            <a:avLst/>
          </a:prstGeom>
          <a:noFill/>
          <a:ln/>
        </p:spPr>
        <p:txBody>
          <a:bodyPr wrap="none" lIns="0" tIns="0" rIns="0" bIns="0" rtlCol="0" anchor="t"/>
          <a:lstStyle/>
          <a:p>
            <a:pPr marL="0" indent="0" algn="l">
              <a:lnSpc>
                <a:spcPts val="1600"/>
              </a:lnSpc>
              <a:buNone/>
            </a:pPr>
            <a:r>
              <a:rPr lang="en-US" sz="1000" dirty="0">
                <a:solidFill>
                  <a:srgbClr val="272525"/>
                </a:solidFill>
                <a:latin typeface="Inter" pitchFamily="34" charset="0"/>
                <a:ea typeface="Inter" pitchFamily="34" charset="-122"/>
                <a:cs typeface="Inter" pitchFamily="34" charset="-120"/>
              </a:rPr>
              <a:t>Share Mounika and Jyoti's successful scripts and techniques through team training sessions.</a:t>
            </a:r>
            <a:endParaRPr lang="en-US" sz="1000" dirty="0"/>
          </a:p>
        </p:txBody>
      </p:sp>
      <p:sp>
        <p:nvSpPr>
          <p:cNvPr id="22" name="Shape 16"/>
          <p:cNvSpPr/>
          <p:nvPr/>
        </p:nvSpPr>
        <p:spPr>
          <a:xfrm>
            <a:off x="7479744" y="3221593"/>
            <a:ext cx="514707" cy="1008578"/>
          </a:xfrm>
          <a:prstGeom prst="roundRect">
            <a:avLst>
              <a:gd name="adj" fmla="val 360049"/>
            </a:avLst>
          </a:prstGeom>
          <a:solidFill>
            <a:srgbClr val="CCEEFF"/>
          </a:solidFill>
          <a:ln w="7620">
            <a:solidFill>
              <a:srgbClr val="B2D4E5"/>
            </a:solidFill>
            <a:prstDash val="solid"/>
          </a:ln>
        </p:spPr>
        <p:txBody>
          <a:bodyPr/>
          <a:lstStyle/>
          <a:p>
            <a:endParaRPr lang="en-NG"/>
          </a:p>
        </p:txBody>
      </p:sp>
      <p:sp>
        <p:nvSpPr>
          <p:cNvPr id="23" name="Text 17"/>
          <p:cNvSpPr/>
          <p:nvPr/>
        </p:nvSpPr>
        <p:spPr>
          <a:xfrm>
            <a:off x="7640598" y="3605213"/>
            <a:ext cx="193000" cy="241221"/>
          </a:xfrm>
          <a:prstGeom prst="rect">
            <a:avLst/>
          </a:prstGeom>
          <a:noFill/>
          <a:ln/>
        </p:spPr>
        <p:txBody>
          <a:bodyPr wrap="none" lIns="0" tIns="0" rIns="0" bIns="0" rtlCol="0" anchor="t"/>
          <a:lstStyle/>
          <a:p>
            <a:pPr marL="0" indent="0" algn="l">
              <a:lnSpc>
                <a:spcPts val="1500"/>
              </a:lnSpc>
              <a:buNone/>
            </a:pPr>
            <a:r>
              <a:rPr lang="en-US" sz="1500" b="1" dirty="0">
                <a:solidFill>
                  <a:srgbClr val="272525"/>
                </a:solidFill>
                <a:latin typeface="Petrona Bold" pitchFamily="34" charset="0"/>
                <a:ea typeface="Petrona Bold" pitchFamily="34" charset="-122"/>
                <a:cs typeface="Petrona Bold" pitchFamily="34" charset="-120"/>
              </a:rPr>
              <a:t>2</a:t>
            </a:r>
            <a:endParaRPr lang="en-US" sz="1500" dirty="0"/>
          </a:p>
        </p:txBody>
      </p:sp>
      <p:sp>
        <p:nvSpPr>
          <p:cNvPr id="24" name="Text 18"/>
          <p:cNvSpPr/>
          <p:nvPr/>
        </p:nvSpPr>
        <p:spPr>
          <a:xfrm>
            <a:off x="8123039" y="3350181"/>
            <a:ext cx="2429232" cy="211098"/>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Study High-Success Campaigns</a:t>
            </a:r>
            <a:endParaRPr lang="en-US" sz="1300" dirty="0"/>
          </a:p>
        </p:txBody>
      </p:sp>
      <p:sp>
        <p:nvSpPr>
          <p:cNvPr id="25" name="Text 19"/>
          <p:cNvSpPr/>
          <p:nvPr/>
        </p:nvSpPr>
        <p:spPr>
          <a:xfrm>
            <a:off x="8123039" y="3689866"/>
            <a:ext cx="5822037" cy="411718"/>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Inter" pitchFamily="34" charset="0"/>
                <a:ea typeface="Inter" pitchFamily="34" charset="-122"/>
                <a:cs typeface="Inter" pitchFamily="34" charset="-120"/>
              </a:rPr>
              <a:t>Identify common factors (timing, script, targeting) from successful campaigns and apply them to others.</a:t>
            </a:r>
            <a:endParaRPr lang="en-US" sz="1000" dirty="0"/>
          </a:p>
        </p:txBody>
      </p:sp>
      <p:sp>
        <p:nvSpPr>
          <p:cNvPr id="26" name="Shape 20"/>
          <p:cNvSpPr/>
          <p:nvPr/>
        </p:nvSpPr>
        <p:spPr>
          <a:xfrm>
            <a:off x="7479744" y="4358759"/>
            <a:ext cx="514707" cy="802719"/>
          </a:xfrm>
          <a:prstGeom prst="roundRect">
            <a:avLst>
              <a:gd name="adj" fmla="val 360049"/>
            </a:avLst>
          </a:prstGeom>
          <a:solidFill>
            <a:srgbClr val="CCEEFF"/>
          </a:solidFill>
          <a:ln w="7620">
            <a:solidFill>
              <a:srgbClr val="B2D4E5"/>
            </a:solidFill>
            <a:prstDash val="solid"/>
          </a:ln>
        </p:spPr>
        <p:txBody>
          <a:bodyPr/>
          <a:lstStyle/>
          <a:p>
            <a:endParaRPr lang="en-NG"/>
          </a:p>
        </p:txBody>
      </p:sp>
      <p:sp>
        <p:nvSpPr>
          <p:cNvPr id="27" name="Text 21"/>
          <p:cNvSpPr/>
          <p:nvPr/>
        </p:nvSpPr>
        <p:spPr>
          <a:xfrm>
            <a:off x="7640598" y="4639508"/>
            <a:ext cx="193000" cy="241221"/>
          </a:xfrm>
          <a:prstGeom prst="rect">
            <a:avLst/>
          </a:prstGeom>
          <a:noFill/>
          <a:ln/>
        </p:spPr>
        <p:txBody>
          <a:bodyPr wrap="none" lIns="0" tIns="0" rIns="0" bIns="0" rtlCol="0" anchor="t"/>
          <a:lstStyle/>
          <a:p>
            <a:pPr marL="0" indent="0" algn="l">
              <a:lnSpc>
                <a:spcPts val="1500"/>
              </a:lnSpc>
              <a:buNone/>
            </a:pPr>
            <a:r>
              <a:rPr lang="en-US" sz="1500" b="1" dirty="0">
                <a:solidFill>
                  <a:srgbClr val="272525"/>
                </a:solidFill>
                <a:latin typeface="Petrona Bold" pitchFamily="34" charset="0"/>
                <a:ea typeface="Petrona Bold" pitchFamily="34" charset="-122"/>
                <a:cs typeface="Petrona Bold" pitchFamily="34" charset="-120"/>
              </a:rPr>
              <a:t>3</a:t>
            </a:r>
            <a:endParaRPr lang="en-US" sz="1500" dirty="0"/>
          </a:p>
        </p:txBody>
      </p:sp>
      <p:sp>
        <p:nvSpPr>
          <p:cNvPr id="28" name="Text 22"/>
          <p:cNvSpPr/>
          <p:nvPr/>
        </p:nvSpPr>
        <p:spPr>
          <a:xfrm>
            <a:off x="8123039" y="4487347"/>
            <a:ext cx="1712833" cy="211098"/>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Focus on Peak Periods</a:t>
            </a:r>
            <a:endParaRPr lang="en-US" sz="1300" dirty="0"/>
          </a:p>
        </p:txBody>
      </p:sp>
      <p:sp>
        <p:nvSpPr>
          <p:cNvPr id="29" name="Text 23"/>
          <p:cNvSpPr/>
          <p:nvPr/>
        </p:nvSpPr>
        <p:spPr>
          <a:xfrm>
            <a:off x="8123039" y="4827032"/>
            <a:ext cx="5822037" cy="205859"/>
          </a:xfrm>
          <a:prstGeom prst="rect">
            <a:avLst/>
          </a:prstGeom>
          <a:noFill/>
          <a:ln/>
        </p:spPr>
        <p:txBody>
          <a:bodyPr wrap="none" lIns="0" tIns="0" rIns="0" bIns="0" rtlCol="0" anchor="t"/>
          <a:lstStyle/>
          <a:p>
            <a:pPr marL="0" indent="0" algn="l">
              <a:lnSpc>
                <a:spcPts val="1600"/>
              </a:lnSpc>
              <a:buNone/>
            </a:pPr>
            <a:r>
              <a:rPr lang="en-US" sz="1000" dirty="0">
                <a:solidFill>
                  <a:srgbClr val="272525"/>
                </a:solidFill>
                <a:latin typeface="Inter" pitchFamily="34" charset="0"/>
                <a:ea typeface="Inter" pitchFamily="34" charset="-122"/>
                <a:cs typeface="Inter" pitchFamily="34" charset="-120"/>
              </a:rPr>
              <a:t>Strategically increase outreach efforts during high-reach months as indicated by trends.</a:t>
            </a:r>
            <a:endParaRPr lang="en-US" sz="1000" dirty="0"/>
          </a:p>
        </p:txBody>
      </p:sp>
      <p:sp>
        <p:nvSpPr>
          <p:cNvPr id="30" name="Shape 24"/>
          <p:cNvSpPr/>
          <p:nvPr/>
        </p:nvSpPr>
        <p:spPr>
          <a:xfrm>
            <a:off x="7479744" y="5290066"/>
            <a:ext cx="514707" cy="1008578"/>
          </a:xfrm>
          <a:prstGeom prst="roundRect">
            <a:avLst>
              <a:gd name="adj" fmla="val 360049"/>
            </a:avLst>
          </a:prstGeom>
          <a:solidFill>
            <a:srgbClr val="CCEEFF"/>
          </a:solidFill>
          <a:ln w="7620">
            <a:solidFill>
              <a:srgbClr val="B2D4E5"/>
            </a:solidFill>
            <a:prstDash val="solid"/>
          </a:ln>
        </p:spPr>
        <p:txBody>
          <a:bodyPr/>
          <a:lstStyle/>
          <a:p>
            <a:endParaRPr lang="en-NG"/>
          </a:p>
        </p:txBody>
      </p:sp>
      <p:sp>
        <p:nvSpPr>
          <p:cNvPr id="31" name="Text 25"/>
          <p:cNvSpPr/>
          <p:nvPr/>
        </p:nvSpPr>
        <p:spPr>
          <a:xfrm>
            <a:off x="7640598" y="5673685"/>
            <a:ext cx="193000" cy="241221"/>
          </a:xfrm>
          <a:prstGeom prst="rect">
            <a:avLst/>
          </a:prstGeom>
          <a:noFill/>
          <a:ln/>
        </p:spPr>
        <p:txBody>
          <a:bodyPr wrap="none" lIns="0" tIns="0" rIns="0" bIns="0" rtlCol="0" anchor="t"/>
          <a:lstStyle/>
          <a:p>
            <a:pPr marL="0" indent="0" algn="l">
              <a:lnSpc>
                <a:spcPts val="1500"/>
              </a:lnSpc>
              <a:buNone/>
            </a:pPr>
            <a:r>
              <a:rPr lang="en-US" sz="1500" b="1" dirty="0">
                <a:solidFill>
                  <a:srgbClr val="272525"/>
                </a:solidFill>
                <a:latin typeface="Petrona Bold" pitchFamily="34" charset="0"/>
                <a:ea typeface="Petrona Bold" pitchFamily="34" charset="-122"/>
                <a:cs typeface="Petrona Bold" pitchFamily="34" charset="-120"/>
              </a:rPr>
              <a:t>4</a:t>
            </a:r>
            <a:endParaRPr lang="en-US" sz="1500" dirty="0"/>
          </a:p>
        </p:txBody>
      </p:sp>
      <p:sp>
        <p:nvSpPr>
          <p:cNvPr id="32" name="Text 26"/>
          <p:cNvSpPr/>
          <p:nvPr/>
        </p:nvSpPr>
        <p:spPr>
          <a:xfrm>
            <a:off x="8123039" y="5418653"/>
            <a:ext cx="1951792" cy="211098"/>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Geographic Optimization</a:t>
            </a:r>
            <a:endParaRPr lang="en-US" sz="1300" dirty="0"/>
          </a:p>
        </p:txBody>
      </p:sp>
      <p:sp>
        <p:nvSpPr>
          <p:cNvPr id="33" name="Text 27"/>
          <p:cNvSpPr/>
          <p:nvPr/>
        </p:nvSpPr>
        <p:spPr>
          <a:xfrm>
            <a:off x="8123039" y="5758339"/>
            <a:ext cx="5822037" cy="411718"/>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Inter" pitchFamily="34" charset="0"/>
                <a:ea typeface="Inter" pitchFamily="34" charset="-122"/>
                <a:cs typeface="Inter" pitchFamily="34" charset="-120"/>
              </a:rPr>
              <a:t>Maintain a strong focus on high-volume countries while carefully testing expansion into new regions.</a:t>
            </a:r>
            <a:endParaRPr lang="en-US" sz="1000" dirty="0"/>
          </a:p>
        </p:txBody>
      </p:sp>
      <p:sp>
        <p:nvSpPr>
          <p:cNvPr id="34" name="Shape 28"/>
          <p:cNvSpPr/>
          <p:nvPr/>
        </p:nvSpPr>
        <p:spPr>
          <a:xfrm>
            <a:off x="7479744" y="6427232"/>
            <a:ext cx="514707" cy="1008578"/>
          </a:xfrm>
          <a:prstGeom prst="roundRect">
            <a:avLst>
              <a:gd name="adj" fmla="val 360049"/>
            </a:avLst>
          </a:prstGeom>
          <a:solidFill>
            <a:srgbClr val="CCEEFF"/>
          </a:solidFill>
          <a:ln w="7620">
            <a:solidFill>
              <a:srgbClr val="B2D4E5"/>
            </a:solidFill>
            <a:prstDash val="solid"/>
          </a:ln>
        </p:spPr>
        <p:txBody>
          <a:bodyPr/>
          <a:lstStyle/>
          <a:p>
            <a:endParaRPr lang="en-NG"/>
          </a:p>
        </p:txBody>
      </p:sp>
      <p:sp>
        <p:nvSpPr>
          <p:cNvPr id="35" name="Text 29"/>
          <p:cNvSpPr/>
          <p:nvPr/>
        </p:nvSpPr>
        <p:spPr>
          <a:xfrm>
            <a:off x="7640598" y="6810851"/>
            <a:ext cx="193000" cy="241221"/>
          </a:xfrm>
          <a:prstGeom prst="rect">
            <a:avLst/>
          </a:prstGeom>
          <a:noFill/>
          <a:ln/>
        </p:spPr>
        <p:txBody>
          <a:bodyPr wrap="none" lIns="0" tIns="0" rIns="0" bIns="0" rtlCol="0" anchor="t"/>
          <a:lstStyle/>
          <a:p>
            <a:pPr marL="0" indent="0" algn="l">
              <a:lnSpc>
                <a:spcPts val="1500"/>
              </a:lnSpc>
              <a:buNone/>
            </a:pPr>
            <a:r>
              <a:rPr lang="en-US" sz="1500" b="1" dirty="0">
                <a:solidFill>
                  <a:srgbClr val="272525"/>
                </a:solidFill>
                <a:latin typeface="Petrona Bold" pitchFamily="34" charset="0"/>
                <a:ea typeface="Petrona Bold" pitchFamily="34" charset="-122"/>
                <a:cs typeface="Petrona Bold" pitchFamily="34" charset="-120"/>
              </a:rPr>
              <a:t>5</a:t>
            </a:r>
            <a:endParaRPr lang="en-US" sz="1500" dirty="0"/>
          </a:p>
        </p:txBody>
      </p:sp>
      <p:sp>
        <p:nvSpPr>
          <p:cNvPr id="36" name="Text 30"/>
          <p:cNvSpPr/>
          <p:nvPr/>
        </p:nvSpPr>
        <p:spPr>
          <a:xfrm>
            <a:off x="8123039" y="6555819"/>
            <a:ext cx="1910239" cy="211098"/>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Improve Low Performers</a:t>
            </a:r>
            <a:endParaRPr lang="en-US" sz="1300" dirty="0"/>
          </a:p>
        </p:txBody>
      </p:sp>
      <p:sp>
        <p:nvSpPr>
          <p:cNvPr id="37" name="Text 31"/>
          <p:cNvSpPr/>
          <p:nvPr/>
        </p:nvSpPr>
        <p:spPr>
          <a:xfrm>
            <a:off x="8123039" y="6895505"/>
            <a:ext cx="5822037" cy="411718"/>
          </a:xfrm>
          <a:prstGeom prst="rect">
            <a:avLst/>
          </a:prstGeom>
          <a:noFill/>
          <a:ln/>
        </p:spPr>
        <p:txBody>
          <a:bodyPr wrap="square" lIns="0" tIns="0" rIns="0" bIns="0" rtlCol="0" anchor="t"/>
          <a:lstStyle/>
          <a:p>
            <a:pPr marL="0" indent="0" algn="l">
              <a:lnSpc>
                <a:spcPts val="1600"/>
              </a:lnSpc>
              <a:buNone/>
            </a:pPr>
            <a:r>
              <a:rPr lang="en-US" sz="1000" dirty="0">
                <a:solidFill>
                  <a:srgbClr val="272525"/>
                </a:solidFill>
                <a:latin typeface="Inter" pitchFamily="34" charset="0"/>
                <a:ea typeface="Inter" pitchFamily="34" charset="-122"/>
                <a:cs typeface="Inter" pitchFamily="34" charset="-120"/>
              </a:rPr>
              <a:t>Provide targeted support and additional training for callers and campaigns falling below the 80% connectivity threshold.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626</Words>
  <Application>Microsoft Office PowerPoint</Application>
  <PresentationFormat>Custom</PresentationFormat>
  <Paragraphs>66</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Petrona Bold</vt:lpstr>
      <vt:lpstr>Arial</vt:lpstr>
      <vt:lpstr>Inter</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Daniella Shalom</cp:lastModifiedBy>
  <cp:revision>2</cp:revision>
  <dcterms:created xsi:type="dcterms:W3CDTF">2025-12-26T13:48:09Z</dcterms:created>
  <dcterms:modified xsi:type="dcterms:W3CDTF">2025-12-26T14:26:50Z</dcterms:modified>
</cp:coreProperties>
</file>